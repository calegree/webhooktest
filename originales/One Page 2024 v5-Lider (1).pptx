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858000" cy="9144000"/>
  <p:embeddedFontLst>
    <p:embeddedFont>
      <p:font typeface="Robot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9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f522768429_2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f522768429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f522768429_2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f522768429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2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9325" y="3435750"/>
            <a:ext cx="4322000" cy="2535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2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47825" y="255713"/>
            <a:ext cx="2754000" cy="1777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2"/>
          <p:cNvPicPr preferRelativeResize="0"/>
          <p:nvPr/>
        </p:nvPicPr>
        <p:blipFill rotWithShape="1">
          <a:blip r:embed="rId5">
            <a:alphaModFix/>
          </a:blip>
          <a:srcRect b="0" l="46343" r="0" t="0"/>
          <a:stretch/>
        </p:blipFill>
        <p:spPr>
          <a:xfrm>
            <a:off x="8505074" y="137724"/>
            <a:ext cx="901996" cy="668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Google Shape;81;p12"/>
          <p:cNvCxnSpPr/>
          <p:nvPr/>
        </p:nvCxnSpPr>
        <p:spPr>
          <a:xfrm flipH="1" rot="10800000">
            <a:off x="121525" y="1336663"/>
            <a:ext cx="9074100" cy="63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2" name="Google Shape;82;p12"/>
          <p:cNvSpPr/>
          <p:nvPr/>
        </p:nvSpPr>
        <p:spPr>
          <a:xfrm>
            <a:off x="121525" y="148658"/>
            <a:ext cx="1001400" cy="1005600"/>
          </a:xfrm>
          <a:prstGeom prst="rect">
            <a:avLst/>
          </a:prstGeom>
          <a:solidFill>
            <a:srgbClr val="BFBFBF"/>
          </a:solidFill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2"/>
          <p:cNvSpPr/>
          <p:nvPr/>
        </p:nvSpPr>
        <p:spPr>
          <a:xfrm>
            <a:off x="121525" y="2921551"/>
            <a:ext cx="11869200" cy="353400"/>
          </a:xfrm>
          <a:prstGeom prst="roundRect">
            <a:avLst>
              <a:gd fmla="val 16667" name="adj"/>
            </a:avLst>
          </a:prstGeom>
          <a:solidFill>
            <a:srgbClr val="106470"/>
          </a:solidFill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1" i="0" lang="es-CL" sz="1867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Dimensiones Sello Liderazgo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2"/>
          <p:cNvSpPr txBox="1"/>
          <p:nvPr/>
        </p:nvSpPr>
        <p:spPr>
          <a:xfrm>
            <a:off x="8195163" y="6098900"/>
            <a:ext cx="1668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1" lang="es-CL" sz="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Nivel 1: cumple con 1 indicador.</a:t>
            </a:r>
            <a:endParaRPr sz="800"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1" lang="es-CL" sz="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Nivel 2: cumple con 2 indicadores.</a:t>
            </a:r>
            <a:endParaRPr sz="800"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1" lang="es-CL" sz="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Nivel 3: cumple con 3 indicadores.</a:t>
            </a:r>
            <a:endParaRPr i="1" sz="800" u="none" cap="none" strike="noStrike">
              <a:solidFill>
                <a:srgbClr val="00000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2"/>
          <p:cNvSpPr txBox="1"/>
          <p:nvPr/>
        </p:nvSpPr>
        <p:spPr>
          <a:xfrm>
            <a:off x="1225725" y="0"/>
            <a:ext cx="69186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rgbClr val="7B7B7B"/>
                </a:solidFill>
                <a:latin typeface="Calibri"/>
                <a:ea typeface="Calibri"/>
                <a:cs typeface="Calibri"/>
                <a:sym typeface="Calibri"/>
              </a:rPr>
              <a:t>{{Nombre}}</a:t>
            </a:r>
            <a:endParaRPr b="1">
              <a:solidFill>
                <a:srgbClr val="7B7B7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2"/>
          <p:cNvSpPr txBox="1"/>
          <p:nvPr/>
        </p:nvSpPr>
        <p:spPr>
          <a:xfrm>
            <a:off x="1225725" y="448000"/>
            <a:ext cx="336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7B7B7B"/>
                </a:solidFill>
                <a:latin typeface="Calibri"/>
                <a:ea typeface="Calibri"/>
                <a:cs typeface="Calibri"/>
                <a:sym typeface="Calibri"/>
              </a:rPr>
              <a:t>Educación: </a:t>
            </a:r>
            <a:r>
              <a:rPr lang="es-CL" sz="1200">
                <a:solidFill>
                  <a:srgbClr val="7B7B7B"/>
                </a:solidFill>
                <a:latin typeface="Calibri"/>
                <a:ea typeface="Calibri"/>
                <a:cs typeface="Calibri"/>
                <a:sym typeface="Calibri"/>
              </a:rPr>
              <a:t>{{Educación}}</a:t>
            </a:r>
            <a:endParaRPr sz="1200">
              <a:solidFill>
                <a:srgbClr val="7B7B7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2"/>
          <p:cNvSpPr txBox="1"/>
          <p:nvPr/>
        </p:nvSpPr>
        <p:spPr>
          <a:xfrm>
            <a:off x="1225725" y="769450"/>
            <a:ext cx="3363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7B7B7B"/>
                </a:solidFill>
                <a:latin typeface="Calibri"/>
                <a:ea typeface="Calibri"/>
                <a:cs typeface="Calibri"/>
                <a:sym typeface="Calibri"/>
              </a:rPr>
              <a:t>Situación Actual: </a:t>
            </a:r>
            <a:r>
              <a:rPr lang="es-CL" sz="1200">
                <a:solidFill>
                  <a:srgbClr val="7B7B7B"/>
                </a:solidFill>
                <a:latin typeface="Calibri"/>
                <a:ea typeface="Calibri"/>
                <a:cs typeface="Calibri"/>
                <a:sym typeface="Calibri"/>
              </a:rPr>
              <a:t>{{Situación}}</a:t>
            </a:r>
            <a:endParaRPr sz="1200">
              <a:solidFill>
                <a:srgbClr val="7B7B7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2"/>
          <p:cNvSpPr txBox="1"/>
          <p:nvPr/>
        </p:nvSpPr>
        <p:spPr>
          <a:xfrm>
            <a:off x="4589175" y="194600"/>
            <a:ext cx="3915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7B7B7B"/>
                </a:solidFill>
                <a:latin typeface="Calibri"/>
                <a:ea typeface="Calibri"/>
                <a:cs typeface="Calibri"/>
                <a:sym typeface="Calibri"/>
              </a:rPr>
              <a:t>Sello Liderazgo: </a:t>
            </a:r>
            <a:r>
              <a:rPr lang="es-CL" sz="1200">
                <a:solidFill>
                  <a:srgbClr val="7B7B7B"/>
                </a:solidFill>
                <a:latin typeface="Calibri"/>
                <a:ea typeface="Calibri"/>
                <a:cs typeface="Calibri"/>
                <a:sym typeface="Calibri"/>
              </a:rPr>
              <a:t>{{Sello}}</a:t>
            </a:r>
            <a:endParaRPr sz="1200">
              <a:solidFill>
                <a:srgbClr val="7B7B7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2"/>
          <p:cNvSpPr txBox="1"/>
          <p:nvPr/>
        </p:nvSpPr>
        <p:spPr>
          <a:xfrm>
            <a:off x="4589175" y="444625"/>
            <a:ext cx="3915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7B7B7B"/>
                </a:solidFill>
                <a:latin typeface="Calibri"/>
                <a:ea typeface="Calibri"/>
                <a:cs typeface="Calibri"/>
                <a:sym typeface="Calibri"/>
              </a:rPr>
              <a:t>Fecha de evaluación: </a:t>
            </a:r>
            <a:r>
              <a:rPr lang="es-CL" sz="1200">
                <a:solidFill>
                  <a:srgbClr val="7B7B7B"/>
                </a:solidFill>
                <a:latin typeface="Calibri"/>
                <a:ea typeface="Calibri"/>
                <a:cs typeface="Calibri"/>
                <a:sym typeface="Calibri"/>
              </a:rPr>
              <a:t>{{Fecha}}</a:t>
            </a:r>
            <a:endParaRPr sz="1200">
              <a:solidFill>
                <a:srgbClr val="7B7B7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2"/>
          <p:cNvSpPr txBox="1"/>
          <p:nvPr/>
        </p:nvSpPr>
        <p:spPr>
          <a:xfrm>
            <a:off x="4589175" y="694625"/>
            <a:ext cx="3915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7B7B7B"/>
                </a:solidFill>
                <a:latin typeface="Calibri"/>
                <a:ea typeface="Calibri"/>
                <a:cs typeface="Calibri"/>
                <a:sym typeface="Calibri"/>
              </a:rPr>
              <a:t>CATEGORÍA: </a:t>
            </a:r>
            <a:r>
              <a:rPr lang="es-CL" sz="1200">
                <a:solidFill>
                  <a:srgbClr val="7B7B7B"/>
                </a:solidFill>
                <a:latin typeface="Calibri"/>
                <a:ea typeface="Calibri"/>
                <a:cs typeface="Calibri"/>
                <a:sym typeface="Calibri"/>
              </a:rPr>
              <a:t>{{Categoría}}</a:t>
            </a:r>
            <a:endParaRPr sz="1200">
              <a:solidFill>
                <a:srgbClr val="7B7B7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2"/>
          <p:cNvSpPr txBox="1"/>
          <p:nvPr/>
        </p:nvSpPr>
        <p:spPr>
          <a:xfrm>
            <a:off x="4589175" y="944650"/>
            <a:ext cx="3915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7B7B7B"/>
                </a:solidFill>
                <a:latin typeface="Calibri"/>
                <a:ea typeface="Calibri"/>
                <a:cs typeface="Calibri"/>
                <a:sym typeface="Calibri"/>
              </a:rPr>
              <a:t>Ps. </a:t>
            </a:r>
            <a:r>
              <a:rPr lang="es-CL" sz="1200">
                <a:solidFill>
                  <a:srgbClr val="7B7B7B"/>
                </a:solidFill>
                <a:latin typeface="Calibri"/>
                <a:ea typeface="Calibri"/>
                <a:cs typeface="Calibri"/>
                <a:sym typeface="Calibri"/>
              </a:rPr>
              <a:t>{{Psicologo}}, Transearch</a:t>
            </a:r>
            <a:endParaRPr sz="1200">
              <a:solidFill>
                <a:srgbClr val="7B7B7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2"/>
          <p:cNvSpPr/>
          <p:nvPr/>
        </p:nvSpPr>
        <p:spPr>
          <a:xfrm>
            <a:off x="2810775" y="1481200"/>
            <a:ext cx="6575700" cy="1373700"/>
          </a:xfrm>
          <a:prstGeom prst="rect">
            <a:avLst/>
          </a:prstGeom>
          <a:noFill/>
          <a:ln cap="flat" cmpd="sng" w="9525">
            <a:solidFill>
              <a:srgbClr val="445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2"/>
          <p:cNvSpPr/>
          <p:nvPr/>
        </p:nvSpPr>
        <p:spPr>
          <a:xfrm>
            <a:off x="131025" y="1481300"/>
            <a:ext cx="2585700" cy="1373700"/>
          </a:xfrm>
          <a:prstGeom prst="rect">
            <a:avLst/>
          </a:prstGeom>
          <a:noFill/>
          <a:ln cap="flat" cmpd="sng" w="9525">
            <a:solidFill>
              <a:srgbClr val="445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2"/>
          <p:cNvSpPr txBox="1"/>
          <p:nvPr/>
        </p:nvSpPr>
        <p:spPr>
          <a:xfrm>
            <a:off x="173400" y="1779125"/>
            <a:ext cx="25341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{{Motivacion}}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2"/>
          <p:cNvSpPr txBox="1"/>
          <p:nvPr/>
        </p:nvSpPr>
        <p:spPr>
          <a:xfrm>
            <a:off x="2856075" y="1714950"/>
            <a:ext cx="6483600" cy="10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{{Resumen}}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12"/>
          <p:cNvCxnSpPr/>
          <p:nvPr/>
        </p:nvCxnSpPr>
        <p:spPr>
          <a:xfrm flipH="1" rot="10800000">
            <a:off x="121525" y="1332763"/>
            <a:ext cx="9287400" cy="10200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" name="Google Shape;97;p12"/>
          <p:cNvSpPr txBox="1"/>
          <p:nvPr/>
        </p:nvSpPr>
        <p:spPr>
          <a:xfrm>
            <a:off x="128400" y="1500825"/>
            <a:ext cx="275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Motivación: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2882400" y="1471325"/>
            <a:ext cx="626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-CL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Resumen General</a:t>
            </a:r>
            <a:r>
              <a:rPr b="1" i="0" lang="es-CL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12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22937" y="3435750"/>
            <a:ext cx="5079250" cy="266315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2"/>
          <p:cNvSpPr txBox="1"/>
          <p:nvPr/>
        </p:nvSpPr>
        <p:spPr>
          <a:xfrm>
            <a:off x="9480515" y="2062234"/>
            <a:ext cx="2534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800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*Porcentaje de Adecuación: Porcentaje en que las competencias del candidato se ajustan a las requeridas por el cargo. </a:t>
            </a:r>
            <a:br>
              <a:rPr i="1" lang="es-CL" sz="800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</a:br>
            <a:r>
              <a:rPr i="1" lang="es-CL" sz="800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* El % de ajuste para que un candidato sea considerado recomendable es entre un 85% a 100%.</a:t>
            </a:r>
            <a:endParaRPr i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2"/>
          <p:cNvSpPr txBox="1"/>
          <p:nvPr/>
        </p:nvSpPr>
        <p:spPr>
          <a:xfrm>
            <a:off x="8144325" y="3833538"/>
            <a:ext cx="10014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Nos cuidamos</a:t>
            </a:r>
            <a:endParaRPr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2"/>
          <p:cNvSpPr txBox="1"/>
          <p:nvPr/>
        </p:nvSpPr>
        <p:spPr>
          <a:xfrm>
            <a:off x="9404325" y="4568175"/>
            <a:ext cx="1263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Vivimos el respeto</a:t>
            </a:r>
            <a:endParaRPr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2"/>
          <p:cNvSpPr txBox="1"/>
          <p:nvPr/>
        </p:nvSpPr>
        <p:spPr>
          <a:xfrm>
            <a:off x="9195575" y="5582075"/>
            <a:ext cx="1624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Cumplimos con excelencia e innovación</a:t>
            </a:r>
            <a:endParaRPr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7207675" y="5582075"/>
            <a:ext cx="10014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Valoramos la colaboración</a:t>
            </a:r>
            <a:endParaRPr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6529125" y="4581450"/>
            <a:ext cx="15135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Construimos el futuro con sustentabilidad</a:t>
            </a:r>
            <a:endParaRPr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/>
          <p:nvPr/>
        </p:nvSpPr>
        <p:spPr>
          <a:xfrm>
            <a:off x="109011" y="82450"/>
            <a:ext cx="11869200" cy="353400"/>
          </a:xfrm>
          <a:prstGeom prst="roundRect">
            <a:avLst>
              <a:gd fmla="val 16667" name="adj"/>
            </a:avLst>
          </a:prstGeom>
          <a:solidFill>
            <a:srgbClr val="E55302"/>
          </a:solidFill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1" i="0" lang="es-CL" sz="186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Principales Fortalezas / Oportunidades de Desarrollo</a:t>
            </a:r>
            <a:endParaRPr b="1" i="0" sz="1867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161400" y="509044"/>
            <a:ext cx="11793600" cy="864000"/>
          </a:xfrm>
          <a:prstGeom prst="rect">
            <a:avLst/>
          </a:prstGeom>
          <a:noFill/>
          <a:ln cap="flat" cmpd="sng" w="9525">
            <a:solidFill>
              <a:srgbClr val="445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151500" y="450612"/>
            <a:ext cx="576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106470"/>
                </a:solidFill>
                <a:latin typeface="Calibri"/>
                <a:ea typeface="Calibri"/>
                <a:cs typeface="Calibri"/>
                <a:sym typeface="Calibri"/>
              </a:rPr>
              <a:t>Conecto con Propósito común</a:t>
            </a:r>
            <a:endParaRPr b="1" i="0" sz="1400" u="none" cap="none" strike="noStrike">
              <a:solidFill>
                <a:srgbClr val="1064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146701" y="1449530"/>
            <a:ext cx="11798400" cy="934200"/>
          </a:xfrm>
          <a:prstGeom prst="rect">
            <a:avLst/>
          </a:prstGeom>
          <a:noFill/>
          <a:ln cap="flat" cmpd="sng" w="9525">
            <a:solidFill>
              <a:srgbClr val="445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184350" y="1379073"/>
            <a:ext cx="576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7A2531"/>
                </a:solidFill>
                <a:latin typeface="Calibri"/>
                <a:ea typeface="Calibri"/>
                <a:cs typeface="Calibri"/>
                <a:sym typeface="Calibri"/>
              </a:rPr>
              <a:t>Integro Equipos de Trabajo</a:t>
            </a:r>
            <a:endParaRPr b="1" i="0" sz="1400" u="none" cap="none" strike="noStrike">
              <a:solidFill>
                <a:srgbClr val="7A25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156448" y="2446591"/>
            <a:ext cx="11791800" cy="992100"/>
          </a:xfrm>
          <a:prstGeom prst="rect">
            <a:avLst/>
          </a:prstGeom>
          <a:noFill/>
          <a:ln cap="flat" cmpd="sng" w="9525">
            <a:solidFill>
              <a:srgbClr val="445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151500" y="2441691"/>
            <a:ext cx="576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E0AA00"/>
                </a:solidFill>
                <a:latin typeface="Calibri"/>
                <a:ea typeface="Calibri"/>
                <a:cs typeface="Calibri"/>
                <a:sym typeface="Calibri"/>
              </a:rPr>
              <a:t>Desarrollo a las Personas</a:t>
            </a:r>
            <a:endParaRPr b="1" i="0" sz="1400" u="none" cap="none" strike="noStrike">
              <a:solidFill>
                <a:srgbClr val="E0AA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147637" y="3500337"/>
            <a:ext cx="11788200" cy="970500"/>
          </a:xfrm>
          <a:prstGeom prst="rect">
            <a:avLst/>
          </a:prstGeom>
          <a:noFill/>
          <a:ln cap="flat" cmpd="sng" w="9525">
            <a:solidFill>
              <a:srgbClr val="445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126600" y="3486532"/>
            <a:ext cx="576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E55302"/>
                </a:solidFill>
                <a:latin typeface="Calibri"/>
                <a:ea typeface="Calibri"/>
                <a:cs typeface="Calibri"/>
                <a:sym typeface="Calibri"/>
              </a:rPr>
              <a:t>Desafío ir más allá</a:t>
            </a:r>
            <a:endParaRPr b="1" i="0" sz="1400" u="none" cap="none" strike="noStrike">
              <a:solidFill>
                <a:srgbClr val="E553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137249" y="5625548"/>
            <a:ext cx="11869200" cy="353400"/>
          </a:xfrm>
          <a:prstGeom prst="roundRect">
            <a:avLst>
              <a:gd fmla="val 16667" name="adj"/>
            </a:avLst>
          </a:prstGeom>
          <a:solidFill>
            <a:srgbClr val="E29906"/>
          </a:solidFill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1" i="0" lang="es-CL" sz="186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Sugerencias y/o Recomendaciones</a:t>
            </a:r>
            <a:endParaRPr b="1" i="0" sz="1867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126600" y="6026761"/>
            <a:ext cx="11922600" cy="805800"/>
          </a:xfrm>
          <a:prstGeom prst="rect">
            <a:avLst/>
          </a:prstGeom>
          <a:noFill/>
          <a:ln cap="flat" cmpd="sng" w="9525">
            <a:solidFill>
              <a:srgbClr val="445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151500" y="4535067"/>
            <a:ext cx="11788200" cy="970500"/>
          </a:xfrm>
          <a:prstGeom prst="rect">
            <a:avLst/>
          </a:prstGeom>
          <a:noFill/>
          <a:ln cap="flat" cmpd="sng" w="9525">
            <a:solidFill>
              <a:srgbClr val="445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3"/>
          <p:cNvSpPr txBox="1"/>
          <p:nvPr/>
        </p:nvSpPr>
        <p:spPr>
          <a:xfrm>
            <a:off x="159225" y="4518192"/>
            <a:ext cx="576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Orientación a la seguridad</a:t>
            </a:r>
            <a:endParaRPr b="1" i="0" sz="1400" u="none" cap="none" strike="noStrike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3"/>
          <p:cNvSpPr txBox="1"/>
          <p:nvPr/>
        </p:nvSpPr>
        <p:spPr>
          <a:xfrm>
            <a:off x="207300" y="683950"/>
            <a:ext cx="116865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Char char="●"/>
            </a:pPr>
            <a:r>
              <a:rPr lang="es-CL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{{Proposito}}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3"/>
          <p:cNvSpPr txBox="1"/>
          <p:nvPr/>
        </p:nvSpPr>
        <p:spPr>
          <a:xfrm>
            <a:off x="149550" y="1686875"/>
            <a:ext cx="116865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Char char="●"/>
            </a:pPr>
            <a:r>
              <a:rPr lang="es-CL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{{Integro}}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 txBox="1"/>
          <p:nvPr/>
        </p:nvSpPr>
        <p:spPr>
          <a:xfrm>
            <a:off x="149550" y="2755300"/>
            <a:ext cx="116865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Char char="●"/>
            </a:pPr>
            <a:r>
              <a:rPr lang="es-CL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{{Desarrollo}}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149550" y="3717625"/>
            <a:ext cx="11686500" cy="7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Char char="●"/>
            </a:pPr>
            <a:r>
              <a:rPr lang="es-CL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{{Desafio}}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149550" y="4749850"/>
            <a:ext cx="11686500" cy="7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Char char="●"/>
            </a:pPr>
            <a:r>
              <a:rPr lang="es-CL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{{Seguridad}}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122100" y="6043600"/>
            <a:ext cx="117414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1850" lvl="0" marL="302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Char char="●"/>
            </a:pPr>
            <a:r>
              <a:rPr b="1" lang="es-CL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Competencias</a:t>
            </a:r>
            <a:r>
              <a:rPr lang="es-CL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{{Competencias}}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122100" y="6416050"/>
            <a:ext cx="117414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1850" lvl="0" marL="302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Char char="●"/>
            </a:pPr>
            <a:r>
              <a:rPr b="1" lang="es-CL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Valores: </a:t>
            </a:r>
            <a:r>
              <a:rPr lang="es-CL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{{Valores}}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