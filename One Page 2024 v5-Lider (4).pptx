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embeddedFontLst>
    <p:embeddedFont>
      <p:font typeface="Robo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boldItalic.fntdata"/><Relationship Id="rId10" Type="http://schemas.openxmlformats.org/officeDocument/2006/relationships/font" Target="fonts/Roboto-italic.fntdata"/><Relationship Id="rId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f522768429_2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f522768429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f522768429_2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f522768429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2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9325" y="3435750"/>
            <a:ext cx="4322000" cy="253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2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7825" y="255713"/>
            <a:ext cx="2754000" cy="1777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2"/>
          <p:cNvPicPr preferRelativeResize="0"/>
          <p:nvPr/>
        </p:nvPicPr>
        <p:blipFill rotWithShape="1">
          <a:blip r:embed="rId5">
            <a:alphaModFix/>
          </a:blip>
          <a:srcRect b="0" l="46343" r="0" t="0"/>
          <a:stretch/>
        </p:blipFill>
        <p:spPr>
          <a:xfrm>
            <a:off x="8505074" y="137724"/>
            <a:ext cx="901996" cy="668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2"/>
          <p:cNvCxnSpPr/>
          <p:nvPr/>
        </p:nvCxnSpPr>
        <p:spPr>
          <a:xfrm flipH="1" rot="10800000">
            <a:off x="121525" y="1336663"/>
            <a:ext cx="9074100" cy="63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2"/>
          <p:cNvSpPr/>
          <p:nvPr/>
        </p:nvSpPr>
        <p:spPr>
          <a:xfrm>
            <a:off x="121525" y="148658"/>
            <a:ext cx="1001400" cy="1005600"/>
          </a:xfrm>
          <a:prstGeom prst="rect">
            <a:avLst/>
          </a:prstGeom>
          <a:solidFill>
            <a:srgbClr val="BFBFBF"/>
          </a:solidFill>
          <a:ln cap="flat" cmpd="sng" w="9525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>
            <a:off x="121525" y="2921551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106470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Dimensiones Sello Liderazgo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2"/>
          <p:cNvSpPr txBox="1"/>
          <p:nvPr/>
        </p:nvSpPr>
        <p:spPr>
          <a:xfrm>
            <a:off x="8195163" y="6098900"/>
            <a:ext cx="166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1: cumple con 1 indicador.</a:t>
            </a:r>
            <a:endParaRPr sz="8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2: cumple con 2 indicadores.</a:t>
            </a:r>
            <a:endParaRPr sz="80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s-CL" sz="8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Nivel 3: cumple con 3 indicadores.</a:t>
            </a:r>
            <a:endParaRPr i="1" sz="800" u="none" cap="none" strike="noStrike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2"/>
          <p:cNvCxnSpPr/>
          <p:nvPr/>
        </p:nvCxnSpPr>
        <p:spPr>
          <a:xfrm flipH="1" rot="10800000">
            <a:off x="121525" y="1332763"/>
            <a:ext cx="9287400" cy="10200"/>
          </a:xfrm>
          <a:prstGeom prst="straightConnector1">
            <a:avLst/>
          </a:prstGeom>
          <a:noFill/>
          <a:ln cap="flat" cmpd="sng" w="2857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6" name="Google Shape;86;p12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2937" y="3435750"/>
            <a:ext cx="5079250" cy="266315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/>
        </p:nvSpPr>
        <p:spPr>
          <a:xfrm>
            <a:off x="9480515" y="2062234"/>
            <a:ext cx="253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*Porcentaje de Adecuación: Porcentaje en que las competencias del candidato se ajustan a las requeridas por el cargo. </a:t>
            </a:r>
            <a:b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i="1" lang="es-CL" sz="8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* El % de ajuste para que un candidato sea considerado recomendable es entre un 85% a 100%.</a:t>
            </a:r>
            <a:endParaRPr i="1" sz="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2"/>
          <p:cNvSpPr txBox="1"/>
          <p:nvPr/>
        </p:nvSpPr>
        <p:spPr>
          <a:xfrm>
            <a:off x="8144325" y="3833538"/>
            <a:ext cx="100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Nos cuidamos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9404325" y="4568175"/>
            <a:ext cx="1263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Vivimos el respeto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9195575" y="5582075"/>
            <a:ext cx="1624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Cumplimos con excelencia e innovación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7207675" y="5582075"/>
            <a:ext cx="100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Valoramos la colaboración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6529125" y="4581450"/>
            <a:ext cx="15135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Construimos el futuro con sustentabilidad</a:t>
            </a:r>
            <a:endParaRPr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2"/>
          <p:cNvSpPr txBox="1"/>
          <p:nvPr/>
        </p:nvSpPr>
        <p:spPr>
          <a:xfrm>
            <a:off x="1219200" y="100"/>
            <a:ext cx="6918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{{Nombre}}</a:t>
            </a:r>
            <a:endParaRPr b="1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2"/>
          <p:cNvSpPr txBox="1"/>
          <p:nvPr/>
        </p:nvSpPr>
        <p:spPr>
          <a:xfrm>
            <a:off x="5389850" y="201400"/>
            <a:ext cx="292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Sello Liderazgo: {{Sello}}</a:t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2"/>
          <p:cNvSpPr txBox="1"/>
          <p:nvPr/>
        </p:nvSpPr>
        <p:spPr>
          <a:xfrm>
            <a:off x="1219200" y="769550"/>
            <a:ext cx="40845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Situación Actual: {{Situación}}</a:t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246325" y="279575"/>
            <a:ext cx="405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Educación: {{Educación}}</a:t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5389850" y="451425"/>
            <a:ext cx="292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Fecha de evaluación: {{Fecha}}</a:t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5389850" y="701425"/>
            <a:ext cx="292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Categoría: </a:t>
            </a: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{{Categoría}}</a:t>
            </a:r>
            <a:endParaRPr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5389850" y="951450"/>
            <a:ext cx="29214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Ps. </a:t>
            </a:r>
            <a:r>
              <a:rPr lang="es-CL" sz="1200">
                <a:solidFill>
                  <a:srgbClr val="7B7B7B"/>
                </a:solidFill>
                <a:latin typeface="Calibri"/>
                <a:ea typeface="Calibri"/>
                <a:cs typeface="Calibri"/>
                <a:sym typeface="Calibri"/>
              </a:rPr>
              <a:t>{{Psicologo}}, Transearch</a:t>
            </a:r>
            <a:endParaRPr b="1" sz="1200">
              <a:solidFill>
                <a:srgbClr val="7B7B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31025" y="1481300"/>
            <a:ext cx="3991800" cy="13737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2"/>
          <p:cNvSpPr txBox="1"/>
          <p:nvPr/>
        </p:nvSpPr>
        <p:spPr>
          <a:xfrm>
            <a:off x="128400" y="1690625"/>
            <a:ext cx="39003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latin typeface="Calibri"/>
                <a:ea typeface="Calibri"/>
                <a:cs typeface="Calibri"/>
                <a:sym typeface="Calibri"/>
              </a:rPr>
              <a:t>{{Motivacion}}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2"/>
          <p:cNvSpPr txBox="1"/>
          <p:nvPr/>
        </p:nvSpPr>
        <p:spPr>
          <a:xfrm>
            <a:off x="128400" y="1500825"/>
            <a:ext cx="275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Motivación: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4121374" y="1477350"/>
            <a:ext cx="5283000" cy="13737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117900" y="1686675"/>
            <a:ext cx="5161800" cy="11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00">
                <a:latin typeface="Calibri"/>
                <a:ea typeface="Calibri"/>
                <a:cs typeface="Calibri"/>
                <a:sym typeface="Calibri"/>
              </a:rPr>
              <a:t>{{Resumen}}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117900" y="1496875"/>
            <a:ext cx="3644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s-CL"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Resumen General:</a:t>
            </a:r>
            <a:endParaRPr b="1"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109011" y="82450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E55302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Principales Fortalezas / Oportunidades de Desarrollo</a:t>
            </a:r>
            <a:endParaRPr b="1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61400" y="509050"/>
            <a:ext cx="11841300" cy="8640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146700" y="1449525"/>
            <a:ext cx="11855100" cy="9342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56450" y="2446600"/>
            <a:ext cx="11841300" cy="9921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147625" y="3500325"/>
            <a:ext cx="11855100" cy="9705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37249" y="5625548"/>
            <a:ext cx="11869200" cy="353400"/>
          </a:xfrm>
          <a:prstGeom prst="roundRect">
            <a:avLst>
              <a:gd fmla="val 16667" name="adj"/>
            </a:avLst>
          </a:prstGeom>
          <a:solidFill>
            <a:srgbClr val="E29906"/>
          </a:solidFill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b="1" i="0" lang="es-CL" sz="18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Sugerencias y/o Recomendaciones</a:t>
            </a:r>
            <a:endParaRPr b="1" i="0" sz="1867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126600" y="6026750"/>
            <a:ext cx="11880000" cy="8058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51500" y="4535075"/>
            <a:ext cx="11855100" cy="970500"/>
          </a:xfrm>
          <a:prstGeom prst="rect">
            <a:avLst/>
          </a:prstGeom>
          <a:noFill/>
          <a:ln cap="flat" cmpd="sng" w="9525">
            <a:solidFill>
              <a:srgbClr val="44546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60950" lIns="121900" spcFirstLastPara="1" rIns="121900" wrap="square" tIns="60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107025" y="510675"/>
            <a:ext cx="576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200" u="none" cap="none" strike="noStrike">
                <a:solidFill>
                  <a:srgbClr val="106470"/>
                </a:solidFill>
                <a:latin typeface="Calibri"/>
                <a:ea typeface="Calibri"/>
                <a:cs typeface="Calibri"/>
                <a:sym typeface="Calibri"/>
              </a:rPr>
              <a:t>Conecto con Propósito común</a:t>
            </a:r>
            <a:endParaRPr b="1" i="0" sz="1200" u="none" cap="none" strike="noStrike">
              <a:solidFill>
                <a:srgbClr val="1064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95400" y="1456073"/>
            <a:ext cx="576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200" u="none" cap="none" strike="noStrike">
                <a:solidFill>
                  <a:srgbClr val="7A2531"/>
                </a:solidFill>
                <a:latin typeface="Calibri"/>
                <a:ea typeface="Calibri"/>
                <a:cs typeface="Calibri"/>
                <a:sym typeface="Calibri"/>
              </a:rPr>
              <a:t>Integro Equipos de Trabajo</a:t>
            </a:r>
            <a:endParaRPr b="1" i="0" sz="1200" u="none" cap="none" strike="noStrike">
              <a:solidFill>
                <a:srgbClr val="7A253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95400" y="2460166"/>
            <a:ext cx="576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200" u="none" cap="none" strike="noStrike">
                <a:solidFill>
                  <a:srgbClr val="E0AA00"/>
                </a:solidFill>
                <a:latin typeface="Calibri"/>
                <a:ea typeface="Calibri"/>
                <a:cs typeface="Calibri"/>
                <a:sym typeface="Calibri"/>
              </a:rPr>
              <a:t>Desarrollo a las Personas</a:t>
            </a:r>
            <a:endParaRPr b="1" i="0" sz="1200" u="none" cap="none" strike="noStrike">
              <a:solidFill>
                <a:srgbClr val="E0AA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151500" y="3505107"/>
            <a:ext cx="576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200" u="none" cap="none" strike="noStrike">
                <a:solidFill>
                  <a:srgbClr val="E55302"/>
                </a:solidFill>
                <a:latin typeface="Calibri"/>
                <a:ea typeface="Calibri"/>
                <a:cs typeface="Calibri"/>
                <a:sym typeface="Calibri"/>
              </a:rPr>
              <a:t>Desafío ir más allá</a:t>
            </a:r>
            <a:endParaRPr b="1" i="0" sz="1200" u="none" cap="none" strike="noStrike">
              <a:solidFill>
                <a:srgbClr val="E5530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51500" y="4532442"/>
            <a:ext cx="5769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200" u="none" cap="none" strike="noStrike">
                <a:solidFill>
                  <a:srgbClr val="548135"/>
                </a:solidFill>
                <a:latin typeface="Calibri"/>
                <a:ea typeface="Calibri"/>
                <a:cs typeface="Calibri"/>
                <a:sym typeface="Calibri"/>
              </a:rPr>
              <a:t>Orientación a la seguridad</a:t>
            </a:r>
            <a:endParaRPr b="1" i="0" sz="1200" u="none" cap="none" strike="noStrike">
              <a:solidFill>
                <a:srgbClr val="5481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98700" y="785950"/>
            <a:ext cx="118692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latin typeface="Calibri"/>
                <a:ea typeface="Calibri"/>
                <a:cs typeface="Calibri"/>
                <a:sym typeface="Calibri"/>
              </a:rPr>
              <a:t>{{Proposito}}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122100" y="6043600"/>
            <a:ext cx="118413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9150" lvl="0" marL="302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Competencias</a:t>
            </a:r>
            <a:r>
              <a:rPr lang="es-CL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s-CL" sz="900">
                <a:latin typeface="Calibri"/>
                <a:ea typeface="Calibri"/>
                <a:cs typeface="Calibri"/>
                <a:sym typeface="Calibri"/>
              </a:rPr>
              <a:t>{{Competencias}}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22100" y="6416050"/>
            <a:ext cx="118413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9150" lvl="0" marL="3024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Valores: </a:t>
            </a:r>
            <a:r>
              <a:rPr lang="es-CL" sz="900">
                <a:latin typeface="Calibri"/>
                <a:ea typeface="Calibri"/>
                <a:cs typeface="Calibri"/>
                <a:sym typeface="Calibri"/>
              </a:rPr>
              <a:t>{{Valores}}</a:t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98700" y="1732976"/>
            <a:ext cx="11869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latin typeface="Calibri"/>
                <a:ea typeface="Calibri"/>
                <a:cs typeface="Calibri"/>
                <a:sym typeface="Calibri"/>
              </a:rPr>
              <a:t>{{Integro}}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98700" y="2737075"/>
            <a:ext cx="11869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latin typeface="Calibri"/>
                <a:ea typeface="Calibri"/>
                <a:cs typeface="Calibri"/>
                <a:sym typeface="Calibri"/>
              </a:rPr>
              <a:t>{{Desarrollo}}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112650" y="3776952"/>
            <a:ext cx="118692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latin typeface="Calibri"/>
                <a:ea typeface="Calibri"/>
                <a:cs typeface="Calibri"/>
                <a:sym typeface="Calibri"/>
              </a:rPr>
              <a:t>{{Desafio}}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02150" y="4809350"/>
            <a:ext cx="11869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Char char="●"/>
            </a:pPr>
            <a:r>
              <a:rPr b="1" lang="es-CL" sz="900">
                <a:latin typeface="Calibri"/>
                <a:ea typeface="Calibri"/>
                <a:cs typeface="Calibri"/>
                <a:sym typeface="Calibri"/>
              </a:rPr>
              <a:t>{{Seguridad}}</a:t>
            </a:r>
            <a:endParaRPr b="1" sz="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